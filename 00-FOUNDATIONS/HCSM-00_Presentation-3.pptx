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Multiplicity</c:v>
                </c:pt>
              </c:strCache>
            </c:strRef>
          </c:tx>
          <c:spPr>
            <a:solidFill>
              <a:srgbClr val="1E4D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4</c:v>
                </c:pt>
                <c:pt idx="2">
                  <c:v>4</c:v>
                </c:pt>
                <c:pt idx="3">
                  <c:v>8</c:v>
                </c:pt>
                <c:pt idx="4">
                  <c:v>14</c:v>
                </c:pt>
                <c:pt idx="5">
                  <c:v>8</c:v>
                </c:pt>
                <c:pt idx="6">
                  <c:v>4</c:v>
                </c:pt>
                <c:pt idx="7">
                  <c:v>4</c:v>
                </c:pt>
                <c:pt idx="8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DF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BF8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HCSM-00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Foundations, Notation, and Mapping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423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8A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Hodge Complex Standard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3657600" cy="0"/>
          </a:xfrm>
          <a:prstGeom prst="line">
            <a:avLst/>
          </a:prstGeom>
          <a:noFill/>
          <a:ln w="25400">
            <a:solidFill>
              <a:srgbClr val="B843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Preschutti  ·  Entropia Research Institute / Information Physics Institute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ORCID: 0009-0004-5445-1744  ·  September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→ Hodge Complex → Spectral Midpoint → Processor → Output → Physics &amp; Cosmology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029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dimensionful anchor M_P  ·  All seven rank blockers closed  ·  Charge rigidity class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48095" y="256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Architectural Levels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1277295" cy="0"/>
          </a:xfrm>
          <a:prstGeom prst="line">
            <a:avLst/>
          </a:prstGeom>
          <a:noFill/>
          <a:ln w="9525">
            <a:solidFill>
              <a:srgbClr val="C9C2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HCSM-00  |  Foundations, Notation, and Mapping  ·  September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structural derivation of the Standard Model from a single discrete substrate.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BF8F0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109728" cy="224028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17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7373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Substrate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8×8 torus 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5-point Laplacian forced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derivations of L = 8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123444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BF8F0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1234440"/>
            <a:ext cx="109728" cy="224028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417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17373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Hodge Complex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Ω⁰ ⊕ Ω¹ ⊕ Ω²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d + d*, D² = 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 D → signature (3,1)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123444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BF8F0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234440"/>
            <a:ext cx="109728" cy="224028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1417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17373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Spectral Midpoint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Self-paired λ = 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modes = 1 generation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D₄ orbits → 56-lift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BF8F0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703320"/>
            <a:ext cx="109728" cy="2240280"/>
          </a:xfrm>
          <a:prstGeom prst="rect">
            <a:avLst/>
          </a:prstGeom>
          <a:solidFill>
            <a:srgbClr val="B8432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8862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206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Processor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1520" y="47091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I − P_C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Kernel-Diagonal Theorem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F/B split, five-layer loop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97680" y="37033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BF8F0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97680" y="3703320"/>
            <a:ext cx="109728" cy="2240280"/>
          </a:xfrm>
          <a:prstGeom prst="rect">
            <a:avLst/>
          </a:prstGeom>
          <a:solidFill>
            <a:srgbClr val="B8432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38862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4206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Structures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572000" y="47091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rigidity class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map (coeff 3/2)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derivations of 3/2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138160" y="37033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BF8F0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38160" y="3703320"/>
            <a:ext cx="109728" cy="2240280"/>
          </a:xfrm>
          <a:prstGeom prst="rect">
            <a:avLst/>
          </a:prstGeom>
          <a:solidFill>
            <a:srgbClr val="B8432A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0" y="38862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5–6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0" y="4206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Physics &amp; Cosmology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412480" y="47091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algebra, CKM/PMNS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θ_QCD = 0, no dark photon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Λ-promotion, ρ_DE 0.010%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CORE CLAIM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48095" y="256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HCSM 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1277295" cy="0"/>
          </a:xfrm>
          <a:prstGeom prst="line">
            <a:avLst/>
          </a:prstGeom>
          <a:noFill/>
          <a:ln w="9525">
            <a:solidFill>
              <a:srgbClr val="C9C2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HCSM-00  |  Foundations, Notation, and Mapping  ·  September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Physics is what the machine cannot cancel.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Hodge complex is the machine.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657600" cy="3840480"/>
          </a:xfrm>
          <a:prstGeom prst="roundRect">
            <a:avLst>
              <a:gd name="adj" fmla="val 2000"/>
            </a:avLst>
          </a:prstGeom>
          <a:solidFill>
            <a:srgbClr val="FBF8F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Dimensionful Anchor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Planck mass M_P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quantity 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the substrate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 = 4 and L = 8.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 dimensionful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is required.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2103120"/>
            <a:ext cx="3657600" cy="3840480"/>
          </a:xfrm>
          <a:prstGeom prst="roundRect">
            <a:avLst>
              <a:gd name="adj" fmla="val 2000"/>
            </a:avLst>
          </a:prstGeom>
          <a:solidFill>
            <a:srgbClr val="FBF8F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 Rank Blockers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29260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seven rank blockers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the derivation program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are closed.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Kernel-Diagonal Theorem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unifies three coefficients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 traces of one projector.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2103120"/>
            <a:ext cx="3657600" cy="3840480"/>
          </a:xfrm>
          <a:prstGeom prst="roundRect">
            <a:avLst>
              <a:gd name="adj" fmla="val 2000"/>
            </a:avLst>
          </a:prstGeom>
          <a:solidFill>
            <a:srgbClr val="FBF8F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6676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Charge Rigidity Class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29260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Five structural constraints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reduce 5¹⁴ ≈ 6×10⁹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configurations to exactly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two, both with total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charge −1e.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48095" y="256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Results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1277295" cy="0"/>
          </a:xfrm>
          <a:prstGeom prst="line">
            <a:avLst/>
          </a:prstGeom>
          <a:noFill/>
          <a:ln w="9525">
            <a:solidFill>
              <a:srgbClr val="C9C2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HCSM-00  |  Foundations, Notation, and Mapping  ·  September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paper establishes the following theorems of the substrate.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5623560" cy="1554480"/>
          </a:xfrm>
          <a:prstGeom prst="roundRect">
            <a:avLst>
              <a:gd name="adj" fmla="val 3529"/>
            </a:avLst>
          </a:prstGeom>
          <a:solidFill>
            <a:srgbClr val="FBF8F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7160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5-Point Laplacian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D₄-invariant nearest-neighbour positive-semidefinite operator with kernel equal to the constants.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5623560" cy="1554480"/>
          </a:xfrm>
          <a:prstGeom prst="roundRect">
            <a:avLst>
              <a:gd name="adj" fmla="val 3529"/>
            </a:avLst>
          </a:prstGeom>
          <a:solidFill>
            <a:srgbClr val="FBF8F0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37160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Hodge–Dirac Identity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178308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D²|Ωₖ = Δ · id on each form degree. Smallest nonzero eigenvalue 2 sin(π/L) on Λ_L. No species doubling.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5623560" cy="1554480"/>
          </a:xfrm>
          <a:prstGeom prst="roundRect">
            <a:avLst>
              <a:gd name="adj" fmla="val 3529"/>
            </a:avLst>
          </a:prstGeom>
          <a:solidFill>
            <a:srgbClr val="FBF8F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6324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Lorentzian Metric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47472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D₄-invariant symmetric form on ker D that vanishes on pure-degree forms and has signature (3,1).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880360"/>
            <a:ext cx="5623560" cy="1554480"/>
          </a:xfrm>
          <a:prstGeom prst="roundRect">
            <a:avLst>
              <a:gd name="adj" fmla="val 3529"/>
            </a:avLst>
          </a:prstGeom>
          <a:solidFill>
            <a:srgbClr val="FBF8F0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06324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Kernel-Diagonal Theorem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347472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 onto ker(H_wind) takes two diagonal values. Yields c = 5/9, mass-map coeff 3/2, and dim 10 as three traces.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5623560" cy="1554480"/>
          </a:xfrm>
          <a:prstGeom prst="roundRect">
            <a:avLst>
              <a:gd name="adj" fmla="val 3529"/>
            </a:avLst>
          </a:prstGeom>
          <a:solidFill>
            <a:srgbClr val="FBF8F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7548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Λ-Promotion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516636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projection onto the timelike direction of ker D. Refined dark energy density matches observation to 0.010%.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4572000"/>
            <a:ext cx="5623560" cy="1554480"/>
          </a:xfrm>
          <a:prstGeom prst="roundRect">
            <a:avLst>
              <a:gd name="adj" fmla="val 3529"/>
            </a:avLst>
          </a:prstGeom>
          <a:solidFill>
            <a:srgbClr val="FBF8F0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47548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Charge Rigidity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37960" y="516636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constraints reduce 5¹⁴ configurations to exactly two, both with total charge −1e. Residual choice fixed by SM content.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LEVEL 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48095" y="256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Substrate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1277295" cy="0"/>
          </a:xfrm>
          <a:prstGeom prst="line">
            <a:avLst/>
          </a:prstGeom>
          <a:noFill/>
          <a:ln w="9525">
            <a:solidFill>
              <a:srgbClr val="C9C2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HCSM-00  |  Foundations, Notation, and Mapping  ·  September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Periodic 8 × 8 Torus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943600" cy="173736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1732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= ℤ₈ × ℤ₈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d · 2ᵈ = 64    L = 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sites · primary, not a discretization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1234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Independent Derivations of L = 8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75120" y="1645920"/>
            <a:ext cx="5029200" cy="502920"/>
          </a:xfrm>
          <a:prstGeom prst="roundRect">
            <a:avLst>
              <a:gd name="adj" fmla="val 9091"/>
            </a:avLst>
          </a:prstGeom>
          <a:solidFill>
            <a:srgbClr val="FBF8F0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17190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0" y="1719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entropy spacing on the torus Laplacian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75120" y="2240280"/>
            <a:ext cx="5029200" cy="502920"/>
          </a:xfrm>
          <a:prstGeom prst="roundRect">
            <a:avLst>
              <a:gd name="adj" fmla="val 9091"/>
            </a:avLst>
          </a:prstGeom>
          <a:solidFill>
            <a:srgbClr val="FBF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23134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2313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cancellation of the winding generator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2834640"/>
            <a:ext cx="5029200" cy="502920"/>
          </a:xfrm>
          <a:prstGeom prst="roundRect">
            <a:avLst>
              <a:gd name="adj" fmla="val 9091"/>
            </a:avLst>
          </a:prstGeom>
          <a:solidFill>
            <a:srgbClr val="FBF8F0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2907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2907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of the Hodge–Dirac kernel → dim = 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11247120" cy="2880360"/>
          </a:xfrm>
          <a:prstGeom prst="roundRect">
            <a:avLst>
              <a:gd name="adj" fmla="val 2540"/>
            </a:avLst>
          </a:prstGeom>
          <a:solidFill>
            <a:srgbClr val="FBF8F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4290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5-Point Laplacian Is Forced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38404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λ(n₁, n₂) = 4 − 2 cos(π n₁/4) − 2 cos(π n₂/4)   ·   Mirror-symmetric under λ ↔ 8 − λ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425196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D₄-invariant nearest-neighbour positive-semidefinite operator with kernel equal to the constants.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Self-paired eigenvalue λ = 4 has multiplicity 2(L − 1) = 14 → matches one SM generation.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relation N = d · 2ᵈ; at d = 4, N = 64 = 8² (unique in 1…8).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5440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substrate is primary: it is not inside anything, and there is nothing below 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LEVEL 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48095" y="256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Spectrum &amp; 14-Mode Residue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1277295" cy="0"/>
          </a:xfrm>
          <a:prstGeom prst="line">
            <a:avLst/>
          </a:prstGeom>
          <a:noFill/>
          <a:ln w="9525">
            <a:solidFill>
              <a:srgbClr val="C9C2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HCSM-00  |  Foundations, Notation, and Mapping  ·  September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Eigenvalue spectrum of the discrete Laplacian on ℤ₈ × ℤ₈</a:t>
            </a:r>
            <a:endParaRPr lang="en-US" sz="17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43000"/>
          <a:ext cx="68580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589520" y="123444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Self-Paired Midpoint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0" y="1828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= 4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multiplicity = 14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7589520" y="3200400"/>
            <a:ext cx="4114800" cy="2651760"/>
          </a:xfrm>
          <a:prstGeom prst="roundRect">
            <a:avLst>
              <a:gd name="adj" fmla="val 2759"/>
            </a:avLst>
          </a:prstGeom>
          <a:solidFill>
            <a:srgbClr val="FBF8F0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0" y="3383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14 matters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772400" y="379476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14 modes at λ = 4 cannot cancel with any mirror partner. They are the residue that survives — identified with one Standard Model generation.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other L the count is wrong.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LEVEL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48095" y="256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Hodge Complex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1277295" cy="0"/>
          </a:xfrm>
          <a:prstGeom prst="line">
            <a:avLst/>
          </a:prstGeom>
          <a:noFill/>
          <a:ln w="9525">
            <a:solidFill>
              <a:srgbClr val="C9C2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HCSM-00  |  Foundations, Notation, and Mapping  ·  September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Differential forms on the torus  ·  D = d + d*  ·  D² = Δ exactly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BF8F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4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0-forms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2148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= 64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514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Bosonic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on 64 sites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118872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A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Ω¹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2628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1-forms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26280" y="2148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= 128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2514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Fermionic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on 128 edges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118872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BF8F0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4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Ω²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6676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2-forms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66760" y="2148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= 64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66760" y="2514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Bosonic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6676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on 64 plaquettes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11247120" cy="2377440"/>
          </a:xfrm>
          <a:prstGeom prst="roundRect">
            <a:avLst>
              <a:gd name="adj" fmla="val 3077"/>
            </a:avLst>
          </a:prstGeom>
          <a:solidFill>
            <a:srgbClr val="FBF8F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931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Theorems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5800" y="434340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D²|Ωₖ = Δ exactly on each form degree (no fermion doubling).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 D ≅ ⊕ Hᵏ(T²; ℝ) with dim ker D = b₀ + b₁ + b₂ = 1 + 2 + 1 = 4.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on ker D is (3,1) — unique D₄-invariant Lorentzian metric vanishing on pure-degree forms.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Z₂ grading (even = bosonic, odd = fermionic) is the origin of the spin-statistics connection.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LEVEL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48095" y="256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Spectral Midpoint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1277295" cy="0"/>
          </a:xfrm>
          <a:prstGeom prst="line">
            <a:avLst/>
          </a:prstGeom>
          <a:noFill/>
          <a:ln w="9525">
            <a:solidFill>
              <a:srgbClr val="C9C2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HCSM-00  |  Foundations, Notation, and Mapping  ·  September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14 modes at λ = 4 and their D₄ orbits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FBF8F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188720"/>
            <a:ext cx="3657600" cy="9144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4D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𝒪₀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2  ·  Support 64 = 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240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Entropy: 6.0 bits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697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(0,4), (4,0)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118872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FBF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0" y="1188720"/>
            <a:ext cx="3657600" cy="914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𝒪₁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26280" y="1874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8  ·  Support 48 = V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2240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Entropy: 5.5 bits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26280" y="2697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(1,3)…(7,5)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118872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FBF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1188720"/>
            <a:ext cx="3657600" cy="91440"/>
          </a:xfrm>
          <a:prstGeom prst="rect">
            <a:avLst/>
          </a:prstGeom>
          <a:solidFill>
            <a:srgbClr val="B8432A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4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𝒪₂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66760" y="1874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4  ·  Support 32 = N/2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66760" y="2240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Entropy: 5.0 bits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66760" y="2697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(2,2),(2,6),(6,2),(6,6)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11247120" cy="2057400"/>
          </a:xfrm>
          <a:prstGeom prst="roundRect">
            <a:avLst>
              <a:gd name="adj" fmla="val 3556"/>
            </a:avLst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251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Hodge Lift to the 56-Dimensional Sector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5800" y="46634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Ω⁰  +  28 Ω¹  +  14 Ω²  =  56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56-dimensional sector is the arena of the physical world.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D₄ content:  9A₁ ⊕ 5A₂ ⊕ 7B₁ ⊕ 7B₂ ⊕ 14E   ·   Graded by Z₂ × Z₂ × Z₂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LEVEL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48095" y="256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Processor &amp; Kernel-Diagonal Theorem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1277295" cy="0"/>
          </a:xfrm>
          <a:prstGeom prst="line">
            <a:avLst/>
          </a:prstGeom>
          <a:noFill/>
          <a:ln w="9525">
            <a:solidFill>
              <a:srgbClr val="C9C2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HCSM-00  |  Foundations, Notation, and Mapping  ·  September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= I − P_C   ·   Rank-10 projection  ·  Three coefficients from one projector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FBF8F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71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Fermion / Boson Split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|F| = d(d+1)/2 = 10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|B| = d = 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(|F| − |B|)/|B| = 3/2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|F|/|B| = 5/2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Winding classes A, B, 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ω_B / ω_A = 3 = d−1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371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Kernel-Diagonal Theorem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17830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 P_ker takes exactly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values: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2/d  on 𝒪₀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(d−1)/d  on 𝒪₁ ∪ 𝒪₂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traces of one projector: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EFT coeff c = 5/9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mass-map (d−1)/2 = 3/2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kernel dim 10 = (d−1)²+1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11247120" cy="1645920"/>
          </a:xfrm>
          <a:prstGeom prst="roundRect">
            <a:avLst>
              <a:gd name="adj" fmla="val 4444"/>
            </a:avLst>
          </a:prstGeom>
          <a:solidFill>
            <a:srgbClr val="FBF8F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6177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Landauer Channel &amp; Five-Layer Loop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9834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reduction ΔS = log(7/5) ≈ 0.336 nats saturates the deterministic Landauer bound.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processor is a Maxwell demon at the exact deterministic limit. T_pass = 1/(2γ).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F-invariance of the winding kernel and the Kernel-T decomposition complete the operator algebra.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LEVEL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48095" y="256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Rigidity Class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1277295" cy="0"/>
          </a:xfrm>
          <a:prstGeom prst="line">
            <a:avLst/>
          </a:prstGeom>
          <a:noFill/>
          <a:ln w="9525">
            <a:solidFill>
              <a:srgbClr val="C9C2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HCSM-00  |  Foundations, Notation, and Mapping  ·  September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structural constraints reduce the charge assignment from 5¹⁴ configurations to exactly two.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11247120" cy="777240"/>
          </a:xfrm>
          <a:prstGeom prst="roundRect">
            <a:avLst>
              <a:gd name="adj" fmla="val 5882"/>
            </a:avLst>
          </a:prstGeom>
          <a:solidFill>
            <a:srgbClr val="FBF8F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4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252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 Multiset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280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SM charge eigenvalues {−3, −1, 0, +2, +3} must appear with the correct multiplicities.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11247120" cy="777240"/>
          </a:xfrm>
          <a:prstGeom prst="roundRect">
            <a:avLst>
              <a:gd name="adj" fmla="val 5882"/>
            </a:avLst>
          </a:prstGeom>
          <a:solidFill>
            <a:srgbClr val="EFE9D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94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4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121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σ-Line Sums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148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σ-lines carry charges summing to 0, d+1 = 5, and −2d = −8. Total vacuum charge −1e.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11247120" cy="777240"/>
          </a:xfrm>
          <a:prstGeom prst="roundRect">
            <a:avLst>
              <a:gd name="adj" fmla="val 5882"/>
            </a:avLst>
          </a:prstGeom>
          <a:solidFill>
            <a:srgbClr val="FBF8F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63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4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2990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F-Pair Shell Rules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30175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sum rules on the fermion pairs constrain the admissible charge patterns.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11247120" cy="777240"/>
          </a:xfrm>
          <a:prstGeom prst="roundRect">
            <a:avLst>
              <a:gd name="adj" fmla="val 5882"/>
            </a:avLst>
          </a:prstGeom>
          <a:solidFill>
            <a:srgbClr val="EFE9D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31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4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858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n₁ + n₂ = 4 Line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8862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midpoint line condition further restricts the assignment on the self-paired modes.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617720"/>
            <a:ext cx="11247120" cy="777240"/>
          </a:xfrm>
          <a:prstGeom prst="roundRect">
            <a:avLst>
              <a:gd name="adj" fmla="val 5882"/>
            </a:avLst>
          </a:prstGeom>
          <a:solidFill>
            <a:srgbClr val="FBF8F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800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4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4727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Processor Bookkeeping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4754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with the rank-10 processor and F/B split eliminates remaining freedom.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LEVEL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48095" y="256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&amp; Mass Map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1277295" cy="0"/>
          </a:xfrm>
          <a:prstGeom prst="line">
            <a:avLst/>
          </a:prstGeom>
          <a:noFill/>
          <a:ln w="9525">
            <a:solidFill>
              <a:srgbClr val="C9C2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HCSM-00  |  Foundations, Notation, and Mapping  ·  September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5486400" cy="5212080"/>
          </a:xfrm>
          <a:prstGeom prst="roundRect">
            <a:avLst>
              <a:gd name="adj" fmla="val 1404"/>
            </a:avLst>
          </a:prstGeom>
          <a:solidFill>
            <a:srgbClr val="FBF8F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Charge Assignment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q₃ = F(n₁, σ)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two surviving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configurations, both with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charge −1e.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binary choice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by one element of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content (electron 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neutrino identification).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vacuum charge is not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choice made by the machine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value fixed by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machine’s own structure.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868680"/>
            <a:ext cx="5486400" cy="5212080"/>
          </a:xfrm>
          <a:prstGeom prst="roundRect">
            <a:avLst>
              <a:gd name="adj" fmla="val 1404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 Map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46520" y="164592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mᵢ = A_mass exp(−B_mass · (N/4)ᵢ)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A_mass = 224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B_mass ≈ 0.5412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(d−1)/2 = 3/2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obtained three independent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(Kernel-Diagonal,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F/B ratio, orbit sizes).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0.0449 dex (~11%)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zero free parameters.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LEVEL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48095" y="256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Physics — Flavor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1277295" cy="0"/>
          </a:xfrm>
          <a:prstGeom prst="line">
            <a:avLst/>
          </a:prstGeom>
          <a:noFill/>
          <a:ln w="9525">
            <a:solidFill>
              <a:srgbClr val="C9C2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HCSM-00  |  Foundations, Notation, and Mapping  ·  September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5486400" cy="5212080"/>
          </a:xfrm>
          <a:prstGeom prst="roundRect">
            <a:avLst>
              <a:gd name="adj" fmla="val 1404"/>
            </a:avLst>
          </a:prstGeom>
          <a:solidFill>
            <a:srgbClr val="FBF8F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CKM Matrix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160020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θ₁₂ = π/14 ≈ 0.2244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Wolfenstein: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π/14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d/(d+1) · (1 + δ_edge)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√(ρ̄² + η̄²) = 5/12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magnitudes: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|V_us| = 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|V_cb| = A λ²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|V_ub| = A λ³ √(ρ̄²+η̄²)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Anti-daughter coeffs from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D₄ orbit sizes.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868680"/>
            <a:ext cx="5486400" cy="5212080"/>
          </a:xfrm>
          <a:prstGeom prst="roundRect">
            <a:avLst>
              <a:gd name="adj" fmla="val 1404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PMNS Matrix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46520" y="160020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Neutrino N/4 spectrum: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(60, 60, 58)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θ₁₂ ≈ 34.2°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θ₂₃ ≈ 47.9°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θ₁₃ ≈ 8.5°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δ_CP ≈ 197°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Majorana phases: (π, 0)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phase: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(|F|−|B|)/|F| · π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Near-degenerate labels 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mixing.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LEVEL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48095" y="256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Algebra, Higgs &amp; Gravity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1277295" cy="0"/>
          </a:xfrm>
          <a:prstGeom prst="line">
            <a:avLst/>
          </a:prstGeom>
          <a:noFill/>
          <a:ln w="9525">
            <a:solidFill>
              <a:srgbClr val="C9C2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HCSM-00  |  Foundations, Notation, and Mapping  ·  September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BF8F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Gauge &amp; Hypercharge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algebra from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D₄ commutant.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Hypercharge quantization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by the substrate.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θ_QCD = 0 exactly from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orientation-Z₂ anticommutation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{F, H_wind} = 0.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≡ 0 (no light dark photon).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m_W / m_Z = cos θ_W.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96012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Higgs Sector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173736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y_t² = 1 − (4/3) δ_edge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4/3 = |𝒪₂|/(d−1)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m_t = 172.688 GeV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(PDG match 0.0053σ)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λ_tree = ln(kL)/[(d−1)π²]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v_EW = M_P exp(−k L_phys)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96012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BF8F0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Gravity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173736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Graviton = self-paired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 ⊕ B₂ curvature mode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(108 modes, massless)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G_N = (d+1)²/(8π M_P²)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= 25/(8π M_P²)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25 = (dim V_B₁)²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LEVEL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48095" y="256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Cosmology &amp; Λ-Promotion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1277295" cy="0"/>
          </a:xfrm>
          <a:prstGeom prst="line">
            <a:avLst/>
          </a:prstGeom>
          <a:noFill/>
          <a:ln w="9525">
            <a:solidFill>
              <a:srgbClr val="C9C2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HCSM-00  |  Foundations, Notation, and Mapping  ·  September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BF8F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 Crossover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kL_bare = (d−1)N/(d+1)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= 38.4 exact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kL_phys = 38.442527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ln(M_P/v_EW)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0.004%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correction coeff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(|D₄|−1)/2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96012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Dark Energy &amp; S₀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178308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Λ-promotion is a pure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onto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timelike direction of ker 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ρ_DE matches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to 0.010%.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−1 exact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S₀ from M_P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dimensionless factors only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96012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BF8F0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Vacuum Stability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178308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c₂ / I(2) ≈ 0.70284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I(2) from AGM(1,√2)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η(i)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S''(0)/S₀ = −2γ &lt;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4 is a strict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maximum of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entropy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48095" y="256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Derived Quantities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1277295" cy="0"/>
          </a:xfrm>
          <a:prstGeom prst="line">
            <a:avLst/>
          </a:prstGeom>
          <a:noFill/>
          <a:ln w="9525">
            <a:solidFill>
              <a:srgbClr val="C9C2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HCSM-00  |  Foundations, Notation, and Mapping  ·  September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11247120" cy="5394960"/>
        </p:xfrm>
        <a:graphic>
          <a:graphicData uri="http://schemas.openxmlformats.org/drawingml/2006/table">
            <a:tbl>
              <a:tblPr/>
              <a:tblGrid>
                <a:gridCol w="4572000"/>
                <a:gridCol w="6675120"/>
              </a:tblGrid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Expression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Top-Yukawa coefficient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4/3 = |𝒪₂|/(d−1)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EFT coefficient 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5/9  (Kernel-Diagonal Theorem)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Mass-map coefficient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(d−1)/2 = 3/2  (three independent derivations)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Cabibbo angle sin θ₁₂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π/14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Neutrino N/4 spectrum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(60, 60, 58)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Strong-CP angle θ_QCD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exactly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Dark-photon mixing 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exactly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m_W / m_Z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cos θ_W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Newton constant G_N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(d+1)²/(8π M_P²)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Dark-energy match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0.010% (Λ-promotion)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 configurations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5¹⁴ → 2 (both total charge −1e)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VERIFICATION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48095" y="256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Status — Confirmed Metrics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1277295" cy="0"/>
          </a:xfrm>
          <a:prstGeom prst="line">
            <a:avLst/>
          </a:prstGeom>
          <a:noFill/>
          <a:ln w="9525">
            <a:solidFill>
              <a:srgbClr val="C9C2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HCSM-00  |  Foundations, Notation, and Mapping  ·  September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Parameters confirmed by experiment; further predictions listed in Section 9 of the paper.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11521440" cy="5120640"/>
        </p:xfrm>
        <a:graphic>
          <a:graphicData uri="http://schemas.openxmlformats.org/drawingml/2006/table">
            <a:tbl>
              <a:tblPr/>
              <a:tblGrid>
                <a:gridCol w="411480"/>
                <a:gridCol w="2286000"/>
                <a:gridCol w="3017520"/>
                <a:gridCol w="3017520"/>
                <a:gridCol w="2788920"/>
              </a:tblGrid>
              <a:tr h="568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HCSM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Empirical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4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Quark Mass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172.688 GeV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PDG 172.69 ± 0.30 GeV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Sub-sigma 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4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Cabibbo Angle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sin θ₁₂ = π/14 ≈ 0.2244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CKM |V_us| extractions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1σ of global fits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4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Graviton Spin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Exactly 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LIGO/Virgo polarizations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 modes established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4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Graviton Mass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Exactly 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GW speed v_g =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Massive graviton excluded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4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Kaluza–Klein Towers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Absent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LHC multi-TeV scans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KK modes observed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4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 Energy Density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Match to 0.010%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Planck CMB + DESI BAO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Λ-promotion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4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m_W / m_Z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cos θ_W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Electroweak 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Proca sector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4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θ_QCD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exactly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Strong-CP bounds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axion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48095" y="256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 Limit &amp; Emergent Lorentz Invariance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1277295" cy="0"/>
          </a:xfrm>
          <a:prstGeom prst="line">
            <a:avLst/>
          </a:prstGeom>
          <a:noFill/>
          <a:ln w="9525">
            <a:solidFill>
              <a:srgbClr val="C9C2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HCSM-00  |  Foundations, Notation, and Mapping  ·  September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continuum emerges from the substrate — not the other way around.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BF8F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80160"/>
            <a:ext cx="109728" cy="105156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4173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vs lattice scale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17830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 spacing is a structural count, not a physical length. ε = lattice/physical scale → 0 in the scaling limit.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BF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468880"/>
            <a:ext cx="109728" cy="105156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06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Isotropic dispersion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29718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λ(n) = (π²/16)(n₁² + n₂²) + O(n⁴). Quartic anisotropy suppressed by ε² in the IR.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BF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657600"/>
            <a:ext cx="109728" cy="105156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94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Cohomological content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1605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observables live in cohomology of the Hodge complex — topological invariants independent of lattice spacing.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84632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BF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846320"/>
            <a:ext cx="109728" cy="1051560"/>
          </a:xfrm>
          <a:prstGeom prst="rect">
            <a:avLst/>
          </a:prstGeom>
          <a:solidFill>
            <a:srgbClr val="1E4D6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9834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Emergent SO(3,1)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Lorentz group acts on ker D via intersection form &amp; Hodge inner product. Exact continuous symmetry, no lattice remnant.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Standard Model is what the substrate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looks like when you observe it.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3063240"/>
            <a:ext cx="3200400" cy="0"/>
          </a:xfrm>
          <a:prstGeom prst="line">
            <a:avLst/>
          </a:prstGeom>
          <a:noFill/>
          <a:ln w="25400">
            <a:solidFill>
              <a:srgbClr val="B84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337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8A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Hodge complex is the machine.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A8A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Physics is what the machine cannot cancel.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rank blockers closed. Kernel-Diagonal Theorem unifies three coefficients.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rigidity class: 5¹⁴ → 2. Single dimensionful anchor M_P.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Falsifiable predictions listed in Section 9.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github.com/007STAN/HODGE-COMPLEX-STANDARD-MODEL-HCSM-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HCSM-00: Foundations, Notation, and Mapping</dc:title>
  <dc:subject>PptxGenJS Presentation</dc:subject>
  <dc:creator>Stanley Preschutti</dc:creator>
  <cp:lastModifiedBy>Stanley Preschutti</cp:lastModifiedBy>
  <cp:revision>1</cp:revision>
  <dcterms:created xsi:type="dcterms:W3CDTF">2026-09-29T23:04:00Z</dcterms:created>
  <dcterms:modified xsi:type="dcterms:W3CDTF">2026-09-29T23:04:00Z</dcterms:modified>
</cp:coreProperties>
</file>